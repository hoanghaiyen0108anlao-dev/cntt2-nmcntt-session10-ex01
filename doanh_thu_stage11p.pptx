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4B288-D600-72D9-364C-A31C4C41D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BA216-0EC7-BAC7-29E0-540483C25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7FA39-730A-5294-646A-04BE3D6F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61863-9362-4908-B624-4258E9CEC8A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9D76E-7900-22EA-7B64-4B9F06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1142D-D57F-8D32-3F69-8B513E77A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F1BC-188A-4393-839E-6E5BE193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58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B51EF-6CEA-1479-C89E-1ABA92A5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0D502-F23A-BFC0-0367-743E0CE31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AC698-FA57-E517-FA68-6C2E70281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61863-9362-4908-B624-4258E9CEC8A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1C87B-067F-B922-3BA2-AAA5F462D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4B6F2-9CAA-CE47-B2FA-29339B8D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F1BC-188A-4393-839E-6E5BE193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56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96D60-54A3-F69B-BA07-84749AF3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632B3-E31C-FE31-D29A-1B4EBD6E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AFF36-7BA7-442D-40E0-B9F780F3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61863-9362-4908-B624-4258E9CEC8A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6493D-112B-930A-DE0A-184445924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C3773-ACF8-FFA8-A0D3-2B7ED1738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F1BC-188A-4393-839E-6E5BE193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DDB6-43EB-FFE9-95B3-25D6E454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088A6-E762-1AA0-B68E-A6FD6E1FF3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723DB-56A4-8495-203A-E35D55592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D4207-EBA8-A943-0427-BF2C7594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61863-9362-4908-B624-4258E9CEC8A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3C05A-C796-36F3-D2E5-510C1C9BE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7E4CF-4DCF-260C-4F17-1ABDA7D3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F1BC-188A-4393-839E-6E5BE193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8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69F0-CFC2-D621-E18F-22AF92C5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84C97-CFEF-E15B-237B-CAF42D2E8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3C596-0784-2D95-8F7D-20B81B319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F6677-2D24-417E-19B4-32ED0AF92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CF3-C2A8-3EE7-CC55-18ACDF2C5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ABAD1A-12EA-8906-97EE-4AA740DC5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61863-9362-4908-B624-4258E9CEC8A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32CF05-7FF9-38C9-1679-E2BCEE71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79E27B-A45F-F25A-D0BE-62799329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F1BC-188A-4393-839E-6E5BE193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53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B918-92D6-D00E-10BE-F38B050D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3205F-083C-600A-7551-663240D0A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61863-9362-4908-B624-4258E9CEC8A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72FF7-CAD5-ABFE-8852-DC9CEAD0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4567B-839F-0B9D-5C87-6B490AC2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F1BC-188A-4393-839E-6E5BE193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11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F5B41-EAF5-9B94-228E-517460839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61863-9362-4908-B624-4258E9CEC8A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3D3DFA-59D9-77CD-716E-4A00C8F5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2D892-3FEB-C98E-7C38-1BD61E38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F1BC-188A-4393-839E-6E5BE193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90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F399B-3840-2577-8939-AEF15E9DB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86F42-599A-3B76-D38A-74F5F71B7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BD552-1211-5E95-BF76-75F197E42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84795-A417-8DEA-52F6-2E1255E73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61863-9362-4908-B624-4258E9CEC8A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8C92E-AC89-CEDD-171C-75088412B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C0C17-710B-C030-A0F5-C6D6858AC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F1BC-188A-4393-839E-6E5BE193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35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C2A1-1486-8C94-E9C1-DF7A79E00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28C5E0-8BFD-ADF3-C173-4EFBAB80A8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71400-ED78-ED77-EF88-0D9552A8F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462DB-E382-3276-4FB9-D76AE09D7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61863-9362-4908-B624-4258E9CEC8A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A93B2-C713-8C5D-BF8A-D2E3AD5E1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188D6-D325-9A7D-196F-95F79B44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F1BC-188A-4393-839E-6E5BE193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76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9BBF5-CB89-E313-BD9B-20E9F5156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74B2E-557E-755D-BACA-269487198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40590-C8B6-19CF-71F9-8E67E9767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61863-9362-4908-B624-4258E9CEC8A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EE17E-49AF-E1CF-3059-A63F72036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AD965-88A4-B8CE-65D1-C46CB52C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F1BC-188A-4393-839E-6E5BE193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98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9CA01-AD36-D59F-B45D-6CA785B2A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56670-75C3-083D-D5E7-15D3E941C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9F039-A1FF-3A24-AFCD-A750AD131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61863-9362-4908-B624-4258E9CEC8A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214AF-823F-80B6-117E-B61D2E5F0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7438A-8D38-E84D-CCD6-601B5DAC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BF1BC-188A-4393-839E-6E5BE193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01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7BEADC-F8A4-AE35-45E7-A29B8F515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FA0D7-B6E1-648B-7C6B-73EC7CC7C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93F94-7188-75EF-AC94-5E2F7D9A8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61863-9362-4908-B624-4258E9CEC8A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B6DBA-A8A8-7E62-824C-DCA5C2958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0991B-18A0-1855-13F3-A868AF462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BF1BC-188A-4393-839E-6E5BE193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4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2C66E-634F-B2D6-08BB-9D6FFF07E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310326" cy="1244338"/>
          </a:xfrm>
        </p:spPr>
        <p:txBody>
          <a:bodyPr>
            <a:normAutofit/>
          </a:bodyPr>
          <a:lstStyle/>
          <a:p>
            <a:r>
              <a:rPr lang="vi-VN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50F808-56CE-ABFF-0C2D-392B0FB2C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616" y="862555"/>
            <a:ext cx="1803662" cy="928540"/>
          </a:xfrm>
        </p:spPr>
        <p:txBody>
          <a:bodyPr/>
          <a:lstStyle/>
          <a:p>
            <a:r>
              <a:rPr lang="vi-VN" dirty="0">
                <a:solidFill>
                  <a:schemeClr val="accent1">
                    <a:lumMod val="75000"/>
                  </a:schemeClr>
                </a:solidFill>
              </a:rPr>
              <a:t>Pay</a:t>
            </a:r>
            <a:r>
              <a:rPr lang="vi-VN" dirty="0"/>
              <a:t> </a:t>
            </a:r>
            <a:r>
              <a:rPr lang="vi-V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KX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11ADA-7678-343B-6D8C-1B210D879B56}"/>
              </a:ext>
            </a:extLst>
          </p:cNvPr>
          <p:cNvSpPr txBox="1"/>
          <p:nvPr/>
        </p:nvSpPr>
        <p:spPr>
          <a:xfrm>
            <a:off x="474483" y="1244338"/>
            <a:ext cx="5674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+mj-lt"/>
              </a:rPr>
              <a:t>VÍ ĐIỆN TỬ CHO SINH VIÊN</a:t>
            </a:r>
            <a:endParaRPr lang="en-US" sz="1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B17CC-CB65-4A46-4A4D-2C5CA65EF4A9}"/>
              </a:ext>
            </a:extLst>
          </p:cNvPr>
          <p:cNvSpPr txBox="1"/>
          <p:nvPr/>
        </p:nvSpPr>
        <p:spPr>
          <a:xfrm>
            <a:off x="1310326" y="2058055"/>
            <a:ext cx="71203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BÁO CÁO LỖ LÃI</a:t>
            </a:r>
            <a:endParaRPr lang="en-US" sz="60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05EB8-74AF-DE91-F945-0B7D6B793903}"/>
              </a:ext>
            </a:extLst>
          </p:cNvPr>
          <p:cNvSpPr txBox="1"/>
          <p:nvPr/>
        </p:nvSpPr>
        <p:spPr>
          <a:xfrm>
            <a:off x="1725102" y="3053127"/>
            <a:ext cx="5750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THÁNG 05/2024</a:t>
            </a:r>
            <a:endParaRPr lang="en-US" sz="4400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1C3701-1CD9-5881-2580-F7707CB56AB1}"/>
              </a:ext>
            </a:extLst>
          </p:cNvPr>
          <p:cNvSpPr txBox="1"/>
          <p:nvPr/>
        </p:nvSpPr>
        <p:spPr>
          <a:xfrm>
            <a:off x="1668541" y="3704734"/>
            <a:ext cx="3958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400" dirty="0">
                <a:solidFill>
                  <a:schemeClr val="accent1">
                    <a:lumMod val="75000"/>
                  </a:schemeClr>
                </a:solidFill>
              </a:rPr>
              <a:t>______________________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44F29F-7635-11FE-A1CF-83BC57169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844" y="0"/>
            <a:ext cx="45091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5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7C81A92D-78C7-F9C9-D0EB-88CF6BB6B19B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7DB"/>
          </a:solidFill>
          <a:ln>
            <a:solidFill>
              <a:srgbClr val="2A7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">
            <a:extLst>
              <a:ext uri="{FF2B5EF4-FFF2-40B4-BE49-F238E27FC236}">
                <a16:creationId xmlns:a16="http://schemas.microsoft.com/office/drawing/2014/main" id="{106B7FDD-9DBA-30D5-3467-5C7ECEEB2EBB}"/>
              </a:ext>
            </a:extLst>
          </p:cNvPr>
          <p:cNvSpPr/>
          <p:nvPr/>
        </p:nvSpPr>
        <p:spPr>
          <a:xfrm>
            <a:off x="8321040" y="502920"/>
            <a:ext cx="1417320" cy="2148840"/>
          </a:xfrm>
          <a:prstGeom prst="roundRect">
            <a:avLst/>
          </a:prstGeom>
          <a:solidFill>
            <a:srgbClr val="123677"/>
          </a:solidFill>
          <a:ln>
            <a:solidFill>
              <a:srgbClr val="12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8">
            <a:extLst>
              <a:ext uri="{FF2B5EF4-FFF2-40B4-BE49-F238E27FC236}">
                <a16:creationId xmlns:a16="http://schemas.microsoft.com/office/drawing/2014/main" id="{8B52BFD0-9EB3-DDE9-CEEE-4AF27ADB1F63}"/>
              </a:ext>
            </a:extLst>
          </p:cNvPr>
          <p:cNvSpPr/>
          <p:nvPr/>
        </p:nvSpPr>
        <p:spPr>
          <a:xfrm>
            <a:off x="8439912" y="667512"/>
            <a:ext cx="1179576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9">
            <a:extLst>
              <a:ext uri="{FF2B5EF4-FFF2-40B4-BE49-F238E27FC236}">
                <a16:creationId xmlns:a16="http://schemas.microsoft.com/office/drawing/2014/main" id="{2F2E1436-4C87-1039-EB66-D7570E9AA1AC}"/>
              </a:ext>
            </a:extLst>
          </p:cNvPr>
          <p:cNvSpPr/>
          <p:nvPr/>
        </p:nvSpPr>
        <p:spPr>
          <a:xfrm>
            <a:off x="8887968" y="749808"/>
            <a:ext cx="292608" cy="54864"/>
          </a:xfrm>
          <a:prstGeom prst="roundRect">
            <a:avLst/>
          </a:prstGeom>
          <a:solidFill>
            <a:srgbClr val="123677"/>
          </a:solidFill>
          <a:ln>
            <a:solidFill>
              <a:srgbClr val="12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6DADA5C-D681-1002-5E5B-E71C55B50935}"/>
              </a:ext>
            </a:extLst>
          </p:cNvPr>
          <p:cNvSpPr txBox="1"/>
          <p:nvPr/>
        </p:nvSpPr>
        <p:spPr>
          <a:xfrm>
            <a:off x="8622792" y="132588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23677"/>
                </a:solidFill>
                <a:latin typeface="Aptos"/>
              </a:rPr>
              <a:t>PayKX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93F0DF6-5766-D3D0-9364-4D277A243B3A}"/>
              </a:ext>
            </a:extLst>
          </p:cNvPr>
          <p:cNvSpPr txBox="1"/>
          <p:nvPr/>
        </p:nvSpPr>
        <p:spPr>
          <a:xfrm>
            <a:off x="8668512" y="16276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2A77DB"/>
                </a:solidFill>
                <a:latin typeface="Aptos"/>
              </a:rPr>
              <a:t>PAY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CEA537E-F29F-1375-8D81-314C1AFBAB70}"/>
              </a:ext>
            </a:extLst>
          </p:cNvPr>
          <p:cNvSpPr/>
          <p:nvPr/>
        </p:nvSpPr>
        <p:spPr>
          <a:xfrm>
            <a:off x="7726679" y="1920240"/>
            <a:ext cx="438912" cy="438912"/>
          </a:xfrm>
          <a:prstGeom prst="ellipse">
            <a:avLst/>
          </a:prstGeom>
          <a:solidFill>
            <a:srgbClr val="F28B20"/>
          </a:solidFill>
          <a:ln>
            <a:solidFill>
              <a:srgbClr val="F28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DC4BF80-F381-FA1C-CE4C-EB5BE40400F6}"/>
              </a:ext>
            </a:extLst>
          </p:cNvPr>
          <p:cNvSpPr txBox="1"/>
          <p:nvPr/>
        </p:nvSpPr>
        <p:spPr>
          <a:xfrm>
            <a:off x="7763256" y="1938528"/>
            <a:ext cx="36576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₫</a:t>
            </a:r>
          </a:p>
        </p:txBody>
      </p:sp>
      <p:sp>
        <p:nvSpPr>
          <p:cNvPr id="83" name="Rounded Rectangle 14">
            <a:extLst>
              <a:ext uri="{FF2B5EF4-FFF2-40B4-BE49-F238E27FC236}">
                <a16:creationId xmlns:a16="http://schemas.microsoft.com/office/drawing/2014/main" id="{7E52E96C-FCBA-C48B-DF31-1718B85B1F99}"/>
              </a:ext>
            </a:extLst>
          </p:cNvPr>
          <p:cNvSpPr/>
          <p:nvPr/>
        </p:nvSpPr>
        <p:spPr>
          <a:xfrm>
            <a:off x="7315200" y="2423160"/>
            <a:ext cx="1051560" cy="256032"/>
          </a:xfrm>
          <a:prstGeom prst="roundRect">
            <a:avLst/>
          </a:prstGeom>
          <a:solidFill>
            <a:srgbClr val="369157"/>
          </a:solidFill>
          <a:ln>
            <a:solidFill>
              <a:srgbClr val="369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15">
            <a:extLst>
              <a:ext uri="{FF2B5EF4-FFF2-40B4-BE49-F238E27FC236}">
                <a16:creationId xmlns:a16="http://schemas.microsoft.com/office/drawing/2014/main" id="{56CF065B-C512-49F7-2B02-0E3B4E7FE903}"/>
              </a:ext>
            </a:extLst>
          </p:cNvPr>
          <p:cNvSpPr/>
          <p:nvPr/>
        </p:nvSpPr>
        <p:spPr>
          <a:xfrm>
            <a:off x="7406640" y="2359152"/>
            <a:ext cx="1051560" cy="256032"/>
          </a:xfrm>
          <a:prstGeom prst="roundRect">
            <a:avLst/>
          </a:prstGeom>
          <a:solidFill>
            <a:srgbClr val="369157"/>
          </a:solidFill>
          <a:ln>
            <a:solidFill>
              <a:srgbClr val="369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16">
            <a:extLst>
              <a:ext uri="{FF2B5EF4-FFF2-40B4-BE49-F238E27FC236}">
                <a16:creationId xmlns:a16="http://schemas.microsoft.com/office/drawing/2014/main" id="{CE3FADA1-570C-22B6-B14B-13E5B9F3B5C5}"/>
              </a:ext>
            </a:extLst>
          </p:cNvPr>
          <p:cNvSpPr/>
          <p:nvPr/>
        </p:nvSpPr>
        <p:spPr>
          <a:xfrm>
            <a:off x="7498079" y="2295144"/>
            <a:ext cx="1051560" cy="256032"/>
          </a:xfrm>
          <a:prstGeom prst="roundRect">
            <a:avLst/>
          </a:prstGeom>
          <a:solidFill>
            <a:srgbClr val="369157"/>
          </a:solidFill>
          <a:ln>
            <a:solidFill>
              <a:srgbClr val="3691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17">
            <a:extLst>
              <a:ext uri="{FF2B5EF4-FFF2-40B4-BE49-F238E27FC236}">
                <a16:creationId xmlns:a16="http://schemas.microsoft.com/office/drawing/2014/main" id="{94FF6F4B-1180-1A96-234C-35D538D9A1E2}"/>
              </a:ext>
            </a:extLst>
          </p:cNvPr>
          <p:cNvSpPr/>
          <p:nvPr/>
        </p:nvSpPr>
        <p:spPr>
          <a:xfrm>
            <a:off x="9326880" y="1920240"/>
            <a:ext cx="1554480" cy="868680"/>
          </a:xfrm>
          <a:prstGeom prst="roundRect">
            <a:avLst/>
          </a:prstGeom>
          <a:solidFill>
            <a:srgbClr val="123677"/>
          </a:solidFill>
          <a:ln>
            <a:solidFill>
              <a:srgbClr val="12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18">
            <a:extLst>
              <a:ext uri="{FF2B5EF4-FFF2-40B4-BE49-F238E27FC236}">
                <a16:creationId xmlns:a16="http://schemas.microsoft.com/office/drawing/2014/main" id="{B7FC2EBD-DC84-CC99-ACA9-B571CD7D3CEA}"/>
              </a:ext>
            </a:extLst>
          </p:cNvPr>
          <p:cNvSpPr/>
          <p:nvPr/>
        </p:nvSpPr>
        <p:spPr>
          <a:xfrm>
            <a:off x="10287000" y="2148840"/>
            <a:ext cx="777240" cy="365760"/>
          </a:xfrm>
          <a:prstGeom prst="roundRect">
            <a:avLst/>
          </a:prstGeom>
          <a:solidFill>
            <a:srgbClr val="2A77DB"/>
          </a:solidFill>
          <a:ln>
            <a:solidFill>
              <a:srgbClr val="2A7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83B6EA6-BBC0-B6EE-1659-7C5471ACBBB2}"/>
              </a:ext>
            </a:extLst>
          </p:cNvPr>
          <p:cNvSpPr/>
          <p:nvPr/>
        </p:nvSpPr>
        <p:spPr>
          <a:xfrm>
            <a:off x="10561320" y="2258568"/>
            <a:ext cx="109728" cy="109728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17B0260-B3D5-A50C-EE8E-247C9D092F4D}"/>
              </a:ext>
            </a:extLst>
          </p:cNvPr>
          <p:cNvSpPr/>
          <p:nvPr/>
        </p:nvSpPr>
        <p:spPr>
          <a:xfrm>
            <a:off x="10195560" y="1737360"/>
            <a:ext cx="256032" cy="502920"/>
          </a:xfrm>
          <a:prstGeom prst="rect">
            <a:avLst/>
          </a:prstGeom>
          <a:solidFill>
            <a:srgbClr val="BED3F4"/>
          </a:solidFill>
          <a:ln>
            <a:solidFill>
              <a:srgbClr val="BED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DFE6E02-6F69-FFB1-C88F-75B4D6E90C05}"/>
              </a:ext>
            </a:extLst>
          </p:cNvPr>
          <p:cNvSpPr/>
          <p:nvPr/>
        </p:nvSpPr>
        <p:spPr>
          <a:xfrm>
            <a:off x="10588752" y="1463040"/>
            <a:ext cx="256032" cy="777240"/>
          </a:xfrm>
          <a:prstGeom prst="rect">
            <a:avLst/>
          </a:prstGeom>
          <a:solidFill>
            <a:srgbClr val="BED3F4"/>
          </a:solidFill>
          <a:ln>
            <a:solidFill>
              <a:srgbClr val="BED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CF6D7C4-8D36-0163-69B4-31D455D5B863}"/>
              </a:ext>
            </a:extLst>
          </p:cNvPr>
          <p:cNvSpPr/>
          <p:nvPr/>
        </p:nvSpPr>
        <p:spPr>
          <a:xfrm>
            <a:off x="10981944" y="1143000"/>
            <a:ext cx="256032" cy="1097280"/>
          </a:xfrm>
          <a:prstGeom prst="rect">
            <a:avLst/>
          </a:prstGeom>
          <a:solidFill>
            <a:srgbClr val="BED3F4"/>
          </a:solidFill>
          <a:ln>
            <a:solidFill>
              <a:srgbClr val="BED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A627981-BDD2-60A1-1C59-EF416ED15303}"/>
              </a:ext>
            </a:extLst>
          </p:cNvPr>
          <p:cNvSpPr txBox="1"/>
          <p:nvPr/>
        </p:nvSpPr>
        <p:spPr>
          <a:xfrm>
            <a:off x="10378440" y="594360"/>
            <a:ext cx="114300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2A77DB"/>
                </a:solidFill>
                <a:latin typeface="Aptos"/>
              </a:rPr>
              <a:t>↗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5C4F30E-5F0A-CAEB-9F99-C766B2D3EF20}"/>
              </a:ext>
            </a:extLst>
          </p:cNvPr>
          <p:cNvSpPr/>
          <p:nvPr/>
        </p:nvSpPr>
        <p:spPr>
          <a:xfrm>
            <a:off x="320040" y="2944368"/>
            <a:ext cx="11567160" cy="18288"/>
          </a:xfrm>
          <a:prstGeom prst="rect">
            <a:avLst/>
          </a:prstGeom>
          <a:solidFill>
            <a:srgbClr val="C7D5EA"/>
          </a:solidFill>
          <a:ln>
            <a:solidFill>
              <a:srgbClr val="C7D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ECF6082-6F84-E015-39C8-0136D42BF8F3}"/>
              </a:ext>
            </a:extLst>
          </p:cNvPr>
          <p:cNvSpPr txBox="1"/>
          <p:nvPr/>
        </p:nvSpPr>
        <p:spPr>
          <a:xfrm>
            <a:off x="566928" y="3090672"/>
            <a:ext cx="457200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3677"/>
                </a:solidFill>
                <a:latin typeface="Aptos"/>
              </a:rPr>
              <a:t>TỔNG QUAN KẾT QUẢ</a:t>
            </a:r>
          </a:p>
        </p:txBody>
      </p:sp>
      <p:sp>
        <p:nvSpPr>
          <p:cNvPr id="95" name="Rounded Rectangle 26">
            <a:extLst>
              <a:ext uri="{FF2B5EF4-FFF2-40B4-BE49-F238E27FC236}">
                <a16:creationId xmlns:a16="http://schemas.microsoft.com/office/drawing/2014/main" id="{3032E97F-9FCA-B93D-FC7F-A4D378138E56}"/>
              </a:ext>
            </a:extLst>
          </p:cNvPr>
          <p:cNvSpPr/>
          <p:nvPr/>
        </p:nvSpPr>
        <p:spPr>
          <a:xfrm>
            <a:off x="502920" y="3566160"/>
            <a:ext cx="2606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06D977B-42AD-D896-FBF7-0DCD4BFE8CEA}"/>
              </a:ext>
            </a:extLst>
          </p:cNvPr>
          <p:cNvSpPr txBox="1"/>
          <p:nvPr/>
        </p:nvSpPr>
        <p:spPr>
          <a:xfrm>
            <a:off x="612648" y="3685032"/>
            <a:ext cx="4572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2A77DB"/>
                </a:solidFill>
                <a:latin typeface="Aptos"/>
              </a:rPr>
              <a:t>◔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8FF3E44-51AC-759E-25B1-4F48AB834081}"/>
              </a:ext>
            </a:extLst>
          </p:cNvPr>
          <p:cNvSpPr txBox="1"/>
          <p:nvPr/>
        </p:nvSpPr>
        <p:spPr>
          <a:xfrm>
            <a:off x="612648" y="4041648"/>
            <a:ext cx="2386584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A77DB"/>
                </a:solidFill>
                <a:latin typeface="Aptos"/>
              </a:rPr>
              <a:t>DOANH THU THUẦN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C1387FD-BCDF-E023-E277-1585786401CB}"/>
              </a:ext>
            </a:extLst>
          </p:cNvPr>
          <p:cNvSpPr txBox="1"/>
          <p:nvPr/>
        </p:nvSpPr>
        <p:spPr>
          <a:xfrm>
            <a:off x="612648" y="4398264"/>
            <a:ext cx="2386584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A77DB"/>
                </a:solidFill>
                <a:latin typeface="Aptos"/>
              </a:rPr>
              <a:t>12,45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3387C74-36D4-EC3D-2069-A677F4F146D1}"/>
              </a:ext>
            </a:extLst>
          </p:cNvPr>
          <p:cNvSpPr txBox="1"/>
          <p:nvPr/>
        </p:nvSpPr>
        <p:spPr>
          <a:xfrm>
            <a:off x="612648" y="4837176"/>
            <a:ext cx="2386584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87588"/>
                </a:solidFill>
                <a:latin typeface="Aptos"/>
              </a:rPr>
              <a:t>Tỷ VND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05A1F0-B648-D95C-DE16-9954D8586000}"/>
              </a:ext>
            </a:extLst>
          </p:cNvPr>
          <p:cNvSpPr txBox="1"/>
          <p:nvPr/>
        </p:nvSpPr>
        <p:spPr>
          <a:xfrm>
            <a:off x="612648" y="5138928"/>
            <a:ext cx="2386584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9157"/>
                </a:solidFill>
                <a:latin typeface="Aptos"/>
              </a:rPr>
              <a:t>▲ ▲18,6%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6D0721C-D493-6C74-ABDA-12312CFA79FF}"/>
              </a:ext>
            </a:extLst>
          </p:cNvPr>
          <p:cNvSpPr txBox="1"/>
          <p:nvPr/>
        </p:nvSpPr>
        <p:spPr>
          <a:xfrm>
            <a:off x="612648" y="5376672"/>
            <a:ext cx="2386584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87588"/>
                </a:solidFill>
                <a:latin typeface="Aptos"/>
              </a:rPr>
              <a:t>so với T04/2024</a:t>
            </a:r>
          </a:p>
        </p:txBody>
      </p:sp>
      <p:sp>
        <p:nvSpPr>
          <p:cNvPr id="102" name="Rounded Rectangle 33">
            <a:extLst>
              <a:ext uri="{FF2B5EF4-FFF2-40B4-BE49-F238E27FC236}">
                <a16:creationId xmlns:a16="http://schemas.microsoft.com/office/drawing/2014/main" id="{E42B9CBB-80A9-9A63-1463-7299C3FD4181}"/>
              </a:ext>
            </a:extLst>
          </p:cNvPr>
          <p:cNvSpPr/>
          <p:nvPr/>
        </p:nvSpPr>
        <p:spPr>
          <a:xfrm>
            <a:off x="3383280" y="3566160"/>
            <a:ext cx="2606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A04EAFA-594C-07B4-CD7C-62188B44054D}"/>
              </a:ext>
            </a:extLst>
          </p:cNvPr>
          <p:cNvSpPr txBox="1"/>
          <p:nvPr/>
        </p:nvSpPr>
        <p:spPr>
          <a:xfrm>
            <a:off x="3493008" y="3685032"/>
            <a:ext cx="4572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369157"/>
                </a:solidFill>
                <a:latin typeface="Aptos"/>
              </a:rPr>
              <a:t>▣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9D5CE88-7213-B0C3-6DC8-05B7138F31AB}"/>
              </a:ext>
            </a:extLst>
          </p:cNvPr>
          <p:cNvSpPr txBox="1"/>
          <p:nvPr/>
        </p:nvSpPr>
        <p:spPr>
          <a:xfrm>
            <a:off x="3493008" y="4041648"/>
            <a:ext cx="2386584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69157"/>
                </a:solidFill>
                <a:latin typeface="Aptos"/>
              </a:rPr>
              <a:t>TỔNG CHI PHÍ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E78B635-D003-B921-94BD-C55B5C254F35}"/>
              </a:ext>
            </a:extLst>
          </p:cNvPr>
          <p:cNvSpPr txBox="1"/>
          <p:nvPr/>
        </p:nvSpPr>
        <p:spPr>
          <a:xfrm>
            <a:off x="3493008" y="4398264"/>
            <a:ext cx="2386584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369157"/>
                </a:solidFill>
                <a:latin typeface="Aptos"/>
              </a:rPr>
              <a:t>7,28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9B572BD-3C28-2D97-304F-400802460412}"/>
              </a:ext>
            </a:extLst>
          </p:cNvPr>
          <p:cNvSpPr txBox="1"/>
          <p:nvPr/>
        </p:nvSpPr>
        <p:spPr>
          <a:xfrm>
            <a:off x="3493008" y="4837176"/>
            <a:ext cx="2386584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87588"/>
                </a:solidFill>
                <a:latin typeface="Aptos"/>
              </a:rPr>
              <a:t>Tỷ VND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8347A7A-D7AD-CD16-E329-F6D3DC6CE04D}"/>
              </a:ext>
            </a:extLst>
          </p:cNvPr>
          <p:cNvSpPr txBox="1"/>
          <p:nvPr/>
        </p:nvSpPr>
        <p:spPr>
          <a:xfrm>
            <a:off x="3493008" y="5138928"/>
            <a:ext cx="2386584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9157"/>
                </a:solidFill>
                <a:latin typeface="Aptos"/>
              </a:rPr>
              <a:t>▲ ▲12,1%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8D8E055-7758-F0B5-BBAB-0654C8B1698D}"/>
              </a:ext>
            </a:extLst>
          </p:cNvPr>
          <p:cNvSpPr txBox="1"/>
          <p:nvPr/>
        </p:nvSpPr>
        <p:spPr>
          <a:xfrm>
            <a:off x="3493008" y="5376672"/>
            <a:ext cx="2386584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87588"/>
                </a:solidFill>
                <a:latin typeface="Aptos"/>
              </a:rPr>
              <a:t>so với T04/2024</a:t>
            </a:r>
          </a:p>
        </p:txBody>
      </p:sp>
      <p:sp>
        <p:nvSpPr>
          <p:cNvPr id="109" name="Rounded Rectangle 40">
            <a:extLst>
              <a:ext uri="{FF2B5EF4-FFF2-40B4-BE49-F238E27FC236}">
                <a16:creationId xmlns:a16="http://schemas.microsoft.com/office/drawing/2014/main" id="{EA2407FE-C9C1-2B34-97DA-46D621779371}"/>
              </a:ext>
            </a:extLst>
          </p:cNvPr>
          <p:cNvSpPr/>
          <p:nvPr/>
        </p:nvSpPr>
        <p:spPr>
          <a:xfrm>
            <a:off x="6263640" y="3566160"/>
            <a:ext cx="2606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F288466-8566-FD52-0A6A-9DA69BE84A19}"/>
              </a:ext>
            </a:extLst>
          </p:cNvPr>
          <p:cNvSpPr txBox="1"/>
          <p:nvPr/>
        </p:nvSpPr>
        <p:spPr>
          <a:xfrm>
            <a:off x="6373368" y="3685032"/>
            <a:ext cx="4572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8256AF"/>
                </a:solidFill>
                <a:latin typeface="Aptos"/>
              </a:rPr>
              <a:t>♟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11E2E01-B2C1-0C3E-D957-CD8895DC8D7A}"/>
              </a:ext>
            </a:extLst>
          </p:cNvPr>
          <p:cNvSpPr txBox="1"/>
          <p:nvPr/>
        </p:nvSpPr>
        <p:spPr>
          <a:xfrm>
            <a:off x="6373368" y="4041648"/>
            <a:ext cx="2386584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256AF"/>
                </a:solidFill>
                <a:latin typeface="Aptos"/>
              </a:rPr>
              <a:t>LỢI NHUẬN GỘP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20913A6-41FA-FE0A-52F5-E4F0F02D5254}"/>
              </a:ext>
            </a:extLst>
          </p:cNvPr>
          <p:cNvSpPr txBox="1"/>
          <p:nvPr/>
        </p:nvSpPr>
        <p:spPr>
          <a:xfrm>
            <a:off x="6373368" y="4398264"/>
            <a:ext cx="2386584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8256AF"/>
                </a:solidFill>
                <a:latin typeface="Aptos"/>
              </a:rPr>
              <a:t>5,17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EECD70C-D4E3-3DB8-219E-B403289D6105}"/>
              </a:ext>
            </a:extLst>
          </p:cNvPr>
          <p:cNvSpPr txBox="1"/>
          <p:nvPr/>
        </p:nvSpPr>
        <p:spPr>
          <a:xfrm>
            <a:off x="6373368" y="4837176"/>
            <a:ext cx="2386584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87588"/>
                </a:solidFill>
                <a:latin typeface="Aptos"/>
              </a:rPr>
              <a:t>Tỷ VND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98060E4-1C92-F17B-2029-8229B31F5A54}"/>
              </a:ext>
            </a:extLst>
          </p:cNvPr>
          <p:cNvSpPr txBox="1"/>
          <p:nvPr/>
        </p:nvSpPr>
        <p:spPr>
          <a:xfrm>
            <a:off x="6373368" y="5138928"/>
            <a:ext cx="2386584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9157"/>
                </a:solidFill>
                <a:latin typeface="Aptos"/>
              </a:rPr>
              <a:t>▲ ▲27,4%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4A269C4-A5BB-51D7-FC78-9CBB164DCBD5}"/>
              </a:ext>
            </a:extLst>
          </p:cNvPr>
          <p:cNvSpPr txBox="1"/>
          <p:nvPr/>
        </p:nvSpPr>
        <p:spPr>
          <a:xfrm>
            <a:off x="6373368" y="5376672"/>
            <a:ext cx="2386584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87588"/>
                </a:solidFill>
                <a:latin typeface="Aptos"/>
              </a:rPr>
              <a:t>so với T04/2024</a:t>
            </a:r>
          </a:p>
        </p:txBody>
      </p:sp>
      <p:sp>
        <p:nvSpPr>
          <p:cNvPr id="116" name="Rounded Rectangle 47">
            <a:extLst>
              <a:ext uri="{FF2B5EF4-FFF2-40B4-BE49-F238E27FC236}">
                <a16:creationId xmlns:a16="http://schemas.microsoft.com/office/drawing/2014/main" id="{436094C6-30FA-F18B-0C00-CD675F99614D}"/>
              </a:ext>
            </a:extLst>
          </p:cNvPr>
          <p:cNvSpPr/>
          <p:nvPr/>
        </p:nvSpPr>
        <p:spPr>
          <a:xfrm>
            <a:off x="9144000" y="3566160"/>
            <a:ext cx="2606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76ECACA-878C-635E-EB17-06E658101634}"/>
              </a:ext>
            </a:extLst>
          </p:cNvPr>
          <p:cNvSpPr txBox="1"/>
          <p:nvPr/>
        </p:nvSpPr>
        <p:spPr>
          <a:xfrm>
            <a:off x="9253728" y="3685032"/>
            <a:ext cx="4572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28B20"/>
                </a:solidFill>
                <a:latin typeface="Aptos"/>
              </a:rPr>
              <a:t>↗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DE0CBC1-52A2-B6D5-7A86-0E3FB9131111}"/>
              </a:ext>
            </a:extLst>
          </p:cNvPr>
          <p:cNvSpPr txBox="1"/>
          <p:nvPr/>
        </p:nvSpPr>
        <p:spPr>
          <a:xfrm>
            <a:off x="9253728" y="4041648"/>
            <a:ext cx="2386584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F28B20"/>
                </a:solidFill>
                <a:latin typeface="Aptos"/>
              </a:rPr>
              <a:t>LỢI NHUẬN SAU THUẾ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03E63E1-77B9-2D12-C04F-8A004017F63D}"/>
              </a:ext>
            </a:extLst>
          </p:cNvPr>
          <p:cNvSpPr txBox="1"/>
          <p:nvPr/>
        </p:nvSpPr>
        <p:spPr>
          <a:xfrm>
            <a:off x="9253728" y="4398264"/>
            <a:ext cx="2386584" cy="4754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28B20"/>
                </a:solidFill>
                <a:latin typeface="Aptos"/>
              </a:rPr>
              <a:t>2,89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C35A5AB-B6FB-F33D-1D55-AFB5D9D41CBE}"/>
              </a:ext>
            </a:extLst>
          </p:cNvPr>
          <p:cNvSpPr txBox="1"/>
          <p:nvPr/>
        </p:nvSpPr>
        <p:spPr>
          <a:xfrm>
            <a:off x="9253728" y="4837176"/>
            <a:ext cx="2386584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87588"/>
                </a:solidFill>
                <a:latin typeface="Aptos"/>
              </a:rPr>
              <a:t>Tỷ VND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D4CE158-B87A-A5CC-E38E-3E09B2B842E8}"/>
              </a:ext>
            </a:extLst>
          </p:cNvPr>
          <p:cNvSpPr txBox="1"/>
          <p:nvPr/>
        </p:nvSpPr>
        <p:spPr>
          <a:xfrm>
            <a:off x="9253728" y="5138928"/>
            <a:ext cx="2386584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69157"/>
                </a:solidFill>
                <a:latin typeface="Aptos"/>
              </a:rPr>
              <a:t>▲ ▲31,2%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E1C0213-24C2-76E0-D547-2E7C65B72548}"/>
              </a:ext>
            </a:extLst>
          </p:cNvPr>
          <p:cNvSpPr txBox="1"/>
          <p:nvPr/>
        </p:nvSpPr>
        <p:spPr>
          <a:xfrm>
            <a:off x="9253728" y="5376672"/>
            <a:ext cx="2386584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687588"/>
                </a:solidFill>
                <a:latin typeface="Aptos"/>
              </a:rPr>
              <a:t>so với T04/2024</a:t>
            </a:r>
          </a:p>
        </p:txBody>
      </p:sp>
      <p:sp>
        <p:nvSpPr>
          <p:cNvPr id="123" name="Rounded Rectangle 54">
            <a:extLst>
              <a:ext uri="{FF2B5EF4-FFF2-40B4-BE49-F238E27FC236}">
                <a16:creationId xmlns:a16="http://schemas.microsoft.com/office/drawing/2014/main" id="{24200965-0985-15CD-4E29-9DB3073D3DB4}"/>
              </a:ext>
            </a:extLst>
          </p:cNvPr>
          <p:cNvSpPr/>
          <p:nvPr/>
        </p:nvSpPr>
        <p:spPr>
          <a:xfrm>
            <a:off x="502920" y="5989320"/>
            <a:ext cx="11155680" cy="502920"/>
          </a:xfrm>
          <a:prstGeom prst="roundRect">
            <a:avLst/>
          </a:prstGeom>
          <a:solidFill>
            <a:srgbClr val="123677"/>
          </a:solidFill>
          <a:ln>
            <a:solidFill>
              <a:srgbClr val="12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20846DF-F630-6080-E6A2-4EAF985F7D21}"/>
              </a:ext>
            </a:extLst>
          </p:cNvPr>
          <p:cNvSpPr txBox="1"/>
          <p:nvPr/>
        </p:nvSpPr>
        <p:spPr>
          <a:xfrm>
            <a:off x="749808" y="6053328"/>
            <a:ext cx="1069848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◎  Tăng trưởng doanh thu mạnh – Tối ưu chi phí – Lợi nhuận bứt phá</a:t>
            </a:r>
          </a:p>
        </p:txBody>
      </p:sp>
    </p:spTree>
    <p:extLst>
      <p:ext uri="{BB962C8B-B14F-4D97-AF65-F5344CB8AC3E}">
        <p14:creationId xmlns:p14="http://schemas.microsoft.com/office/powerpoint/2010/main" val="584091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8DA73D-6F79-1A91-F5CA-98F5E50E0364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78DC"/>
          </a:solidFill>
          <a:ln>
            <a:solidFill>
              <a:srgbClr val="2B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A9701-2D03-5E91-DE17-5556E9EE2DB8}"/>
              </a:ext>
            </a:extLst>
          </p:cNvPr>
          <p:cNvSpPr txBox="1"/>
          <p:nvPr/>
        </p:nvSpPr>
        <p:spPr>
          <a:xfrm>
            <a:off x="502920" y="182880"/>
            <a:ext cx="2011680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3777"/>
                </a:solidFill>
                <a:latin typeface="Aptos"/>
              </a:rPr>
              <a:t>P  PayKX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AC859-43CD-FD53-C8B7-BD93F142862E}"/>
              </a:ext>
            </a:extLst>
          </p:cNvPr>
          <p:cNvSpPr txBox="1"/>
          <p:nvPr/>
        </p:nvSpPr>
        <p:spPr>
          <a:xfrm>
            <a:off x="530352" y="475488"/>
            <a:ext cx="2560320" cy="20116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A788C"/>
                </a:solidFill>
                <a:latin typeface="Aptos"/>
              </a:rPr>
              <a:t>Ví điện tử cho sinh viên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BF860-5CD5-6F7E-D9AA-52B9F0FBFC3C}"/>
              </a:ext>
            </a:extLst>
          </p:cNvPr>
          <p:cNvSpPr txBox="1"/>
          <p:nvPr/>
        </p:nvSpPr>
        <p:spPr>
          <a:xfrm>
            <a:off x="594360" y="868680"/>
            <a:ext cx="7315200" cy="5029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3777"/>
                </a:solidFill>
                <a:latin typeface="Aptos"/>
              </a:rPr>
              <a:t>TỔNG QUAN KẾT QUẢ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858C3-51D7-3DDB-10A5-24C42B684990}"/>
              </a:ext>
            </a:extLst>
          </p:cNvPr>
          <p:cNvSpPr txBox="1"/>
          <p:nvPr/>
        </p:nvSpPr>
        <p:spPr>
          <a:xfrm>
            <a:off x="621792" y="1353312"/>
            <a:ext cx="6400800" cy="29260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B78DC"/>
                </a:solidFill>
                <a:latin typeface="Aptos"/>
              </a:rPr>
              <a:t>Các chỉ số chính • Tháng 05/2024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15573E-C173-FCB3-8E0A-4BB1BB85C00D}"/>
              </a:ext>
            </a:extLst>
          </p:cNvPr>
          <p:cNvSpPr/>
          <p:nvPr/>
        </p:nvSpPr>
        <p:spPr>
          <a:xfrm>
            <a:off x="621792" y="1719072"/>
            <a:ext cx="640080" cy="32004"/>
          </a:xfrm>
          <a:prstGeom prst="rect">
            <a:avLst/>
          </a:prstGeom>
          <a:solidFill>
            <a:srgbClr val="2B78DC"/>
          </a:solidFill>
          <a:ln>
            <a:solidFill>
              <a:srgbClr val="2B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AAEFB8D4-EB31-586D-1260-EB13E59FFDA3}"/>
              </a:ext>
            </a:extLst>
          </p:cNvPr>
          <p:cNvSpPr/>
          <p:nvPr/>
        </p:nvSpPr>
        <p:spPr>
          <a:xfrm>
            <a:off x="502920" y="2331720"/>
            <a:ext cx="2606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E6194F-7AC3-A363-A938-31C51B4DAAEF}"/>
              </a:ext>
            </a:extLst>
          </p:cNvPr>
          <p:cNvSpPr txBox="1"/>
          <p:nvPr/>
        </p:nvSpPr>
        <p:spPr>
          <a:xfrm>
            <a:off x="612648" y="2423160"/>
            <a:ext cx="41148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B78DC"/>
                </a:solidFill>
                <a:latin typeface="Aptos"/>
              </a:rPr>
              <a:t>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B67A53-B574-31F9-A2C7-6A96023D4650}"/>
              </a:ext>
            </a:extLst>
          </p:cNvPr>
          <p:cNvSpPr txBox="1"/>
          <p:nvPr/>
        </p:nvSpPr>
        <p:spPr>
          <a:xfrm>
            <a:off x="612648" y="2770632"/>
            <a:ext cx="2386584" cy="32004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2B78DC"/>
                </a:solidFill>
                <a:latin typeface="Aptos"/>
              </a:rPr>
              <a:t>DOANH THU THUẦN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A8BA0D-457C-E5BB-E23C-40C4716B3B01}"/>
              </a:ext>
            </a:extLst>
          </p:cNvPr>
          <p:cNvSpPr txBox="1"/>
          <p:nvPr/>
        </p:nvSpPr>
        <p:spPr>
          <a:xfrm>
            <a:off x="612648" y="3099815"/>
            <a:ext cx="2386584" cy="45720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2B78DC"/>
                </a:solidFill>
                <a:latin typeface="Aptos"/>
              </a:rPr>
              <a:t>12,45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0E75CE-EF8C-1834-EA3E-AADE8B1085FF}"/>
              </a:ext>
            </a:extLst>
          </p:cNvPr>
          <p:cNvSpPr txBox="1"/>
          <p:nvPr/>
        </p:nvSpPr>
        <p:spPr>
          <a:xfrm>
            <a:off x="612648" y="3538728"/>
            <a:ext cx="2386584" cy="20116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A788C"/>
                </a:solidFill>
                <a:latin typeface="Aptos"/>
              </a:rPr>
              <a:t>Tỷ VND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21317D-CE9F-BCB4-24D9-F2CBE81C32EC}"/>
              </a:ext>
            </a:extLst>
          </p:cNvPr>
          <p:cNvSpPr txBox="1"/>
          <p:nvPr/>
        </p:nvSpPr>
        <p:spPr>
          <a:xfrm>
            <a:off x="612648" y="3813048"/>
            <a:ext cx="2386584" cy="21945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39258"/>
                </a:solidFill>
                <a:latin typeface="Aptos"/>
              </a:rPr>
              <a:t>▲ 18,6%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DF9AA4-9843-32A7-AD01-9A408F905CBA}"/>
              </a:ext>
            </a:extLst>
          </p:cNvPr>
          <p:cNvSpPr txBox="1"/>
          <p:nvPr/>
        </p:nvSpPr>
        <p:spPr>
          <a:xfrm>
            <a:off x="612648" y="4041648"/>
            <a:ext cx="2386584" cy="18288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6A788C"/>
                </a:solidFill>
                <a:latin typeface="Aptos"/>
              </a:rPr>
              <a:t>so với T04/2024</a:t>
            </a:r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AF1EE7C9-F089-5BF2-3DE8-7F3F08940D63}"/>
              </a:ext>
            </a:extLst>
          </p:cNvPr>
          <p:cNvSpPr/>
          <p:nvPr/>
        </p:nvSpPr>
        <p:spPr>
          <a:xfrm>
            <a:off x="3383280" y="2331720"/>
            <a:ext cx="2606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27C612-ACF3-2F95-5747-48FCA2B863EB}"/>
              </a:ext>
            </a:extLst>
          </p:cNvPr>
          <p:cNvSpPr txBox="1"/>
          <p:nvPr/>
        </p:nvSpPr>
        <p:spPr>
          <a:xfrm>
            <a:off x="3493008" y="2423160"/>
            <a:ext cx="41148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339258"/>
                </a:solidFill>
                <a:latin typeface="Aptos"/>
              </a:rPr>
              <a:t>▣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79C95D-7A81-6F46-EA3F-FCB2AB9790C2}"/>
              </a:ext>
            </a:extLst>
          </p:cNvPr>
          <p:cNvSpPr txBox="1"/>
          <p:nvPr/>
        </p:nvSpPr>
        <p:spPr>
          <a:xfrm>
            <a:off x="3493008" y="2770632"/>
            <a:ext cx="2386584" cy="32004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39258"/>
                </a:solidFill>
                <a:latin typeface="Aptos"/>
              </a:rPr>
              <a:t>TỔNG CHI PHÍ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5603FD-16D7-2917-4189-D8964052A109}"/>
              </a:ext>
            </a:extLst>
          </p:cNvPr>
          <p:cNvSpPr txBox="1"/>
          <p:nvPr/>
        </p:nvSpPr>
        <p:spPr>
          <a:xfrm>
            <a:off x="3493008" y="3099815"/>
            <a:ext cx="2386584" cy="45720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339258"/>
                </a:solidFill>
                <a:latin typeface="Aptos"/>
              </a:rPr>
              <a:t>7,28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E30C43-4830-AC25-53A1-16696551A009}"/>
              </a:ext>
            </a:extLst>
          </p:cNvPr>
          <p:cNvSpPr txBox="1"/>
          <p:nvPr/>
        </p:nvSpPr>
        <p:spPr>
          <a:xfrm>
            <a:off x="3493008" y="3538728"/>
            <a:ext cx="2386584" cy="20116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A788C"/>
                </a:solidFill>
                <a:latin typeface="Aptos"/>
              </a:rPr>
              <a:t>Tỷ VND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924F6A-8D3D-A732-0DB7-8C1008AA69DE}"/>
              </a:ext>
            </a:extLst>
          </p:cNvPr>
          <p:cNvSpPr txBox="1"/>
          <p:nvPr/>
        </p:nvSpPr>
        <p:spPr>
          <a:xfrm>
            <a:off x="3493008" y="3813048"/>
            <a:ext cx="2386584" cy="21945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39258"/>
                </a:solidFill>
                <a:latin typeface="Aptos"/>
              </a:rPr>
              <a:t>▲ 12,1%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8F2556-4F1B-F674-23BD-AD839321CBF7}"/>
              </a:ext>
            </a:extLst>
          </p:cNvPr>
          <p:cNvSpPr txBox="1"/>
          <p:nvPr/>
        </p:nvSpPr>
        <p:spPr>
          <a:xfrm>
            <a:off x="3493008" y="4041648"/>
            <a:ext cx="2386584" cy="18288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6A788C"/>
                </a:solidFill>
                <a:latin typeface="Aptos"/>
              </a:rPr>
              <a:t>so với T04/2024</a:t>
            </a:r>
          </a:p>
        </p:txBody>
      </p:sp>
      <p:sp>
        <p:nvSpPr>
          <p:cNvPr id="24" name="Rounded Rectangle 21">
            <a:extLst>
              <a:ext uri="{FF2B5EF4-FFF2-40B4-BE49-F238E27FC236}">
                <a16:creationId xmlns:a16="http://schemas.microsoft.com/office/drawing/2014/main" id="{AC141D49-F979-FD16-1715-9B31E32D47F8}"/>
              </a:ext>
            </a:extLst>
          </p:cNvPr>
          <p:cNvSpPr/>
          <p:nvPr/>
        </p:nvSpPr>
        <p:spPr>
          <a:xfrm>
            <a:off x="6263640" y="2331720"/>
            <a:ext cx="2606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0FDF68-42D2-10F8-BDEE-9569A9178892}"/>
              </a:ext>
            </a:extLst>
          </p:cNvPr>
          <p:cNvSpPr txBox="1"/>
          <p:nvPr/>
        </p:nvSpPr>
        <p:spPr>
          <a:xfrm>
            <a:off x="6373368" y="2423160"/>
            <a:ext cx="41148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8453B0"/>
                </a:solidFill>
                <a:latin typeface="Aptos"/>
              </a:rPr>
              <a:t>♟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82511A-2D52-CF9F-63EB-BF134E1ED1CA}"/>
              </a:ext>
            </a:extLst>
          </p:cNvPr>
          <p:cNvSpPr txBox="1"/>
          <p:nvPr/>
        </p:nvSpPr>
        <p:spPr>
          <a:xfrm>
            <a:off x="6373368" y="2770632"/>
            <a:ext cx="2386584" cy="32004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453B0"/>
                </a:solidFill>
                <a:latin typeface="Aptos"/>
              </a:rPr>
              <a:t>LỢI NHUẬN GỘP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6BADAE-B5CA-88A7-EC2E-1FF3E469ABC3}"/>
              </a:ext>
            </a:extLst>
          </p:cNvPr>
          <p:cNvSpPr txBox="1"/>
          <p:nvPr/>
        </p:nvSpPr>
        <p:spPr>
          <a:xfrm>
            <a:off x="6373368" y="3099815"/>
            <a:ext cx="2386584" cy="45720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8453B0"/>
                </a:solidFill>
                <a:latin typeface="Aptos"/>
              </a:rPr>
              <a:t>5,17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067507-07B8-E78E-7811-B37724097183}"/>
              </a:ext>
            </a:extLst>
          </p:cNvPr>
          <p:cNvSpPr txBox="1"/>
          <p:nvPr/>
        </p:nvSpPr>
        <p:spPr>
          <a:xfrm>
            <a:off x="6373368" y="3538728"/>
            <a:ext cx="2386584" cy="20116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A788C"/>
                </a:solidFill>
                <a:latin typeface="Aptos"/>
              </a:rPr>
              <a:t>Tỷ VND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5726A7-47B4-3501-9A12-39C5CC1DDD00}"/>
              </a:ext>
            </a:extLst>
          </p:cNvPr>
          <p:cNvSpPr txBox="1"/>
          <p:nvPr/>
        </p:nvSpPr>
        <p:spPr>
          <a:xfrm>
            <a:off x="6373368" y="3813048"/>
            <a:ext cx="2386584" cy="21945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39258"/>
                </a:solidFill>
                <a:latin typeface="Aptos"/>
              </a:rPr>
              <a:t>▲ 27,4%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FE34E9-910D-00BC-F202-5AFE307295B5}"/>
              </a:ext>
            </a:extLst>
          </p:cNvPr>
          <p:cNvSpPr txBox="1"/>
          <p:nvPr/>
        </p:nvSpPr>
        <p:spPr>
          <a:xfrm>
            <a:off x="6373368" y="4041648"/>
            <a:ext cx="2386584" cy="18288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6A788C"/>
                </a:solidFill>
                <a:latin typeface="Aptos"/>
              </a:rPr>
              <a:t>so với T04/2024</a:t>
            </a:r>
          </a:p>
        </p:txBody>
      </p:sp>
      <p:sp>
        <p:nvSpPr>
          <p:cNvPr id="31" name="Rounded Rectangle 28">
            <a:extLst>
              <a:ext uri="{FF2B5EF4-FFF2-40B4-BE49-F238E27FC236}">
                <a16:creationId xmlns:a16="http://schemas.microsoft.com/office/drawing/2014/main" id="{F390BA5C-E9B6-05DC-DC6A-9BC649828D33}"/>
              </a:ext>
            </a:extLst>
          </p:cNvPr>
          <p:cNvSpPr/>
          <p:nvPr/>
        </p:nvSpPr>
        <p:spPr>
          <a:xfrm>
            <a:off x="9144000" y="2331720"/>
            <a:ext cx="2606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457339-2361-D31F-F4BF-79DF44D84202}"/>
              </a:ext>
            </a:extLst>
          </p:cNvPr>
          <p:cNvSpPr txBox="1"/>
          <p:nvPr/>
        </p:nvSpPr>
        <p:spPr>
          <a:xfrm>
            <a:off x="9253728" y="2423160"/>
            <a:ext cx="41148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19022"/>
                </a:solidFill>
                <a:latin typeface="Aptos"/>
              </a:rPr>
              <a:t>↗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528CA1-CA44-10C2-4DE2-C56943346053}"/>
              </a:ext>
            </a:extLst>
          </p:cNvPr>
          <p:cNvSpPr txBox="1"/>
          <p:nvPr/>
        </p:nvSpPr>
        <p:spPr>
          <a:xfrm>
            <a:off x="9253728" y="2770632"/>
            <a:ext cx="2386584" cy="32004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19022"/>
                </a:solidFill>
                <a:latin typeface="Aptos"/>
              </a:rPr>
              <a:t>LỢI NHUẬN SAU THUẾ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6BD341-FFD1-46AD-2D90-E3930DB027AF}"/>
              </a:ext>
            </a:extLst>
          </p:cNvPr>
          <p:cNvSpPr txBox="1"/>
          <p:nvPr/>
        </p:nvSpPr>
        <p:spPr>
          <a:xfrm>
            <a:off x="9253728" y="3099815"/>
            <a:ext cx="2386584" cy="45720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19022"/>
                </a:solidFill>
                <a:latin typeface="Aptos"/>
              </a:rPr>
              <a:t>2,89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D40998-15F0-C98D-626E-71DEA362DDC8}"/>
              </a:ext>
            </a:extLst>
          </p:cNvPr>
          <p:cNvSpPr txBox="1"/>
          <p:nvPr/>
        </p:nvSpPr>
        <p:spPr>
          <a:xfrm>
            <a:off x="9253728" y="3538728"/>
            <a:ext cx="2386584" cy="20116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A788C"/>
                </a:solidFill>
                <a:latin typeface="Aptos"/>
              </a:rPr>
              <a:t>Tỷ VND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E213E5-F674-7B9B-0BB3-19B30A8B264F}"/>
              </a:ext>
            </a:extLst>
          </p:cNvPr>
          <p:cNvSpPr txBox="1"/>
          <p:nvPr/>
        </p:nvSpPr>
        <p:spPr>
          <a:xfrm>
            <a:off x="9253728" y="3813048"/>
            <a:ext cx="2386584" cy="21945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39258"/>
                </a:solidFill>
                <a:latin typeface="Aptos"/>
              </a:rPr>
              <a:t>▲ 31,2%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A1C030-86F2-537C-948D-D5A7B6AA9FD8}"/>
              </a:ext>
            </a:extLst>
          </p:cNvPr>
          <p:cNvSpPr txBox="1"/>
          <p:nvPr/>
        </p:nvSpPr>
        <p:spPr>
          <a:xfrm>
            <a:off x="9253728" y="4041648"/>
            <a:ext cx="2386584" cy="18288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6A788C"/>
                </a:solidFill>
                <a:latin typeface="Aptos"/>
              </a:rPr>
              <a:t>so với T04/2024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87FCEF-2ABD-C491-C186-361F34411F95}"/>
              </a:ext>
            </a:extLst>
          </p:cNvPr>
          <p:cNvSpPr txBox="1"/>
          <p:nvPr/>
        </p:nvSpPr>
        <p:spPr>
          <a:xfrm>
            <a:off x="731520" y="4800600"/>
            <a:ext cx="2560320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A788C"/>
                </a:solidFill>
                <a:latin typeface="Aptos"/>
              </a:rPr>
              <a:t>Doanh thu thuần</a:t>
            </a:r>
          </a:p>
        </p:txBody>
      </p:sp>
      <p:sp>
        <p:nvSpPr>
          <p:cNvPr id="39" name="Rounded Rectangle 36">
            <a:extLst>
              <a:ext uri="{FF2B5EF4-FFF2-40B4-BE49-F238E27FC236}">
                <a16:creationId xmlns:a16="http://schemas.microsoft.com/office/drawing/2014/main" id="{5C5D1516-F323-CBB9-850E-C9C78637037A}"/>
              </a:ext>
            </a:extLst>
          </p:cNvPr>
          <p:cNvSpPr/>
          <p:nvPr/>
        </p:nvSpPr>
        <p:spPr>
          <a:xfrm>
            <a:off x="2926080" y="4828032"/>
            <a:ext cx="5852160" cy="182880"/>
          </a:xfrm>
          <a:prstGeom prst="roundRect">
            <a:avLst/>
          </a:prstGeom>
          <a:solidFill>
            <a:srgbClr val="DAE5F4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7">
            <a:extLst>
              <a:ext uri="{FF2B5EF4-FFF2-40B4-BE49-F238E27FC236}">
                <a16:creationId xmlns:a16="http://schemas.microsoft.com/office/drawing/2014/main" id="{5E123873-6723-47C4-C12A-E921E6753507}"/>
              </a:ext>
            </a:extLst>
          </p:cNvPr>
          <p:cNvSpPr/>
          <p:nvPr/>
        </p:nvSpPr>
        <p:spPr>
          <a:xfrm>
            <a:off x="2926080" y="4828032"/>
            <a:ext cx="5266944" cy="182880"/>
          </a:xfrm>
          <a:prstGeom prst="roundRect">
            <a:avLst/>
          </a:prstGeom>
          <a:solidFill>
            <a:srgbClr val="2B78DC"/>
          </a:solidFill>
          <a:ln>
            <a:solidFill>
              <a:srgbClr val="2B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94024C-993D-D3E0-3F8C-BF4522995736}"/>
              </a:ext>
            </a:extLst>
          </p:cNvPr>
          <p:cNvSpPr txBox="1"/>
          <p:nvPr/>
        </p:nvSpPr>
        <p:spPr>
          <a:xfrm>
            <a:off x="9052560" y="4800600"/>
            <a:ext cx="2103120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B78DC"/>
                </a:solidFill>
                <a:latin typeface="Aptos"/>
              </a:rPr>
              <a:t>12,45 tỷ VND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621660-4613-F545-3F73-4B6B3A89E59D}"/>
              </a:ext>
            </a:extLst>
          </p:cNvPr>
          <p:cNvSpPr txBox="1"/>
          <p:nvPr/>
        </p:nvSpPr>
        <p:spPr>
          <a:xfrm>
            <a:off x="731520" y="5230368"/>
            <a:ext cx="2560320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A788C"/>
                </a:solidFill>
                <a:latin typeface="Aptos"/>
              </a:rPr>
              <a:t>Tổng chi phí</a:t>
            </a:r>
          </a:p>
        </p:txBody>
      </p:sp>
      <p:sp>
        <p:nvSpPr>
          <p:cNvPr id="43" name="Rounded Rectangle 40">
            <a:extLst>
              <a:ext uri="{FF2B5EF4-FFF2-40B4-BE49-F238E27FC236}">
                <a16:creationId xmlns:a16="http://schemas.microsoft.com/office/drawing/2014/main" id="{C8BB4269-83AE-A62D-542C-CB84E0DE02A1}"/>
              </a:ext>
            </a:extLst>
          </p:cNvPr>
          <p:cNvSpPr/>
          <p:nvPr/>
        </p:nvSpPr>
        <p:spPr>
          <a:xfrm>
            <a:off x="2926080" y="5257800"/>
            <a:ext cx="5852160" cy="182880"/>
          </a:xfrm>
          <a:prstGeom prst="roundRect">
            <a:avLst/>
          </a:prstGeom>
          <a:solidFill>
            <a:srgbClr val="DAE5F4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1">
            <a:extLst>
              <a:ext uri="{FF2B5EF4-FFF2-40B4-BE49-F238E27FC236}">
                <a16:creationId xmlns:a16="http://schemas.microsoft.com/office/drawing/2014/main" id="{C6E2AD6C-FC7A-2055-E355-00AB223CC413}"/>
              </a:ext>
            </a:extLst>
          </p:cNvPr>
          <p:cNvSpPr/>
          <p:nvPr/>
        </p:nvSpPr>
        <p:spPr>
          <a:xfrm>
            <a:off x="2926080" y="5257800"/>
            <a:ext cx="3101644" cy="182880"/>
          </a:xfrm>
          <a:prstGeom prst="roundRect">
            <a:avLst/>
          </a:prstGeom>
          <a:solidFill>
            <a:srgbClr val="339258"/>
          </a:solidFill>
          <a:ln>
            <a:solidFill>
              <a:srgbClr val="339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AC57BE-E5AE-1CCD-44B0-7F1CBF774712}"/>
              </a:ext>
            </a:extLst>
          </p:cNvPr>
          <p:cNvSpPr txBox="1"/>
          <p:nvPr/>
        </p:nvSpPr>
        <p:spPr>
          <a:xfrm>
            <a:off x="9052560" y="5230368"/>
            <a:ext cx="2103120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39258"/>
                </a:solidFill>
                <a:latin typeface="Aptos"/>
              </a:rPr>
              <a:t>7,28 tỷ VND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57DB03-DFDC-412B-DCF5-FFC4B3B03A1D}"/>
              </a:ext>
            </a:extLst>
          </p:cNvPr>
          <p:cNvSpPr txBox="1"/>
          <p:nvPr/>
        </p:nvSpPr>
        <p:spPr>
          <a:xfrm>
            <a:off x="731520" y="5660136"/>
            <a:ext cx="2560320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A788C"/>
                </a:solidFill>
                <a:latin typeface="Aptos"/>
              </a:rPr>
              <a:t>Lợi nhuận sau thuế</a:t>
            </a:r>
          </a:p>
        </p:txBody>
      </p:sp>
      <p:sp>
        <p:nvSpPr>
          <p:cNvPr id="47" name="Rounded Rectangle 44">
            <a:extLst>
              <a:ext uri="{FF2B5EF4-FFF2-40B4-BE49-F238E27FC236}">
                <a16:creationId xmlns:a16="http://schemas.microsoft.com/office/drawing/2014/main" id="{A56B9D9E-2494-48CC-3D80-09074F343005}"/>
              </a:ext>
            </a:extLst>
          </p:cNvPr>
          <p:cNvSpPr/>
          <p:nvPr/>
        </p:nvSpPr>
        <p:spPr>
          <a:xfrm>
            <a:off x="2926080" y="5687568"/>
            <a:ext cx="5852160" cy="182880"/>
          </a:xfrm>
          <a:prstGeom prst="roundRect">
            <a:avLst/>
          </a:prstGeom>
          <a:solidFill>
            <a:srgbClr val="DAE5F4"/>
          </a:solidFill>
          <a:ln>
            <a:solidFill>
              <a:srgbClr val="DA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5">
            <a:extLst>
              <a:ext uri="{FF2B5EF4-FFF2-40B4-BE49-F238E27FC236}">
                <a16:creationId xmlns:a16="http://schemas.microsoft.com/office/drawing/2014/main" id="{3AE95D68-E1CC-39B7-F7A4-5BBDAB0DFF38}"/>
              </a:ext>
            </a:extLst>
          </p:cNvPr>
          <p:cNvSpPr/>
          <p:nvPr/>
        </p:nvSpPr>
        <p:spPr>
          <a:xfrm>
            <a:off x="2926080" y="5687568"/>
            <a:ext cx="1755648" cy="182880"/>
          </a:xfrm>
          <a:prstGeom prst="roundRect">
            <a:avLst/>
          </a:prstGeom>
          <a:solidFill>
            <a:srgbClr val="F19022"/>
          </a:solidFill>
          <a:ln>
            <a:solidFill>
              <a:srgbClr val="F19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2773C6-3CCF-B0B6-21F6-C4CCA731CC5B}"/>
              </a:ext>
            </a:extLst>
          </p:cNvPr>
          <p:cNvSpPr txBox="1"/>
          <p:nvPr/>
        </p:nvSpPr>
        <p:spPr>
          <a:xfrm>
            <a:off x="9052560" y="5660136"/>
            <a:ext cx="2103120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19022"/>
                </a:solidFill>
                <a:latin typeface="Aptos"/>
              </a:rPr>
              <a:t>2,89 tỷ VND</a:t>
            </a:r>
          </a:p>
        </p:txBody>
      </p:sp>
      <p:sp>
        <p:nvSpPr>
          <p:cNvPr id="50" name="Rounded Rectangle 47">
            <a:extLst>
              <a:ext uri="{FF2B5EF4-FFF2-40B4-BE49-F238E27FC236}">
                <a16:creationId xmlns:a16="http://schemas.microsoft.com/office/drawing/2014/main" id="{98678078-007A-DB0A-520F-D8259FDC4F79}"/>
              </a:ext>
            </a:extLst>
          </p:cNvPr>
          <p:cNvSpPr/>
          <p:nvPr/>
        </p:nvSpPr>
        <p:spPr>
          <a:xfrm>
            <a:off x="640080" y="6263640"/>
            <a:ext cx="10972800" cy="347472"/>
          </a:xfrm>
          <a:prstGeom prst="roundRect">
            <a:avLst/>
          </a:prstGeom>
          <a:solidFill>
            <a:srgbClr val="143777"/>
          </a:solidFill>
          <a:ln>
            <a:solidFill>
              <a:srgbClr val="143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526E3E-D054-5868-D574-7CCC7569D801}"/>
              </a:ext>
            </a:extLst>
          </p:cNvPr>
          <p:cNvSpPr txBox="1"/>
          <p:nvPr/>
        </p:nvSpPr>
        <p:spPr>
          <a:xfrm>
            <a:off x="822960" y="6272784"/>
            <a:ext cx="10515600" cy="29260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Các chỉ số đều tăng so với tháng 04/2024.</a:t>
            </a:r>
          </a:p>
        </p:txBody>
      </p:sp>
    </p:spTree>
    <p:extLst>
      <p:ext uri="{BB962C8B-B14F-4D97-AF65-F5344CB8AC3E}">
        <p14:creationId xmlns:p14="http://schemas.microsoft.com/office/powerpoint/2010/main" val="376721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198</Words>
  <Application>Microsoft Office PowerPoint</Application>
  <PresentationFormat>Widescreen</PresentationFormat>
  <Paragraphs>71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Office Theme</vt:lpstr>
      <vt:lpstr>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Yến Hoàng</dc:creator>
  <cp:lastModifiedBy>Yến Hoàng</cp:lastModifiedBy>
  <cp:revision>1</cp:revision>
  <dcterms:created xsi:type="dcterms:W3CDTF">2026-10-26T03:51:41Z</dcterms:created>
  <dcterms:modified xsi:type="dcterms:W3CDTF">2026-10-26T04:21:06Z</dcterms:modified>
</cp:coreProperties>
</file>